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4" r:id="rId12"/>
    <p:sldId id="275" r:id="rId13"/>
    <p:sldId id="276" r:id="rId14"/>
    <p:sldId id="266" r:id="rId15"/>
    <p:sldId id="267" r:id="rId16"/>
    <p:sldId id="268" r:id="rId17"/>
    <p:sldId id="269" r:id="rId18"/>
    <p:sldId id="270" r:id="rId19"/>
    <p:sldId id="271" r:id="rId20"/>
    <p:sldId id="277" r:id="rId21"/>
    <p:sldId id="278" r:id="rId22"/>
    <p:sldId id="279" r:id="rId23"/>
    <p:sldId id="280" r:id="rId24"/>
    <p:sldId id="281" r:id="rId25"/>
    <p:sldId id="272" r:id="rId26"/>
    <p:sldId id="282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E50914"/>
                </a:solidFill>
              </a:defRPr>
            </a:pPr>
            <a:r>
              <a:rPr dirty="0"/>
              <a:t>Netflix </a:t>
            </a:r>
            <a:r>
              <a:rPr lang="en-IN" dirty="0"/>
              <a:t>Global </a:t>
            </a:r>
            <a:r>
              <a:rPr dirty="0"/>
              <a:t>Content Analysis &amp; Visualization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Using Python (Pandas) and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E50914"/>
                </a:solidFill>
              </a:defRPr>
            </a:pPr>
            <a:r>
              <a:rPr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Project Overview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Problem Statement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Objectives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Dataset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Methodology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Analysis &amp; Insights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Dashboard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E50914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Performed comprehensive data cleaning, preprocessing, and transformation using Python (Pandas) to improve data quality and consistency.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Conducted exploratory data analysis (EDA) to identify trends, patterns, and relationships within Netflix's content library.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Developed interactive Power BI dashboards to visualize country-wise, genre-wise, rating-wise, and yearly content distribution.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Generated key performance indicators (KPIs) and business insights to support data-driven decision-making.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Enabled users to explore Netflix content through dynamic filters, slicers, and navigation features for an enhanced analytical experience.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E50914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Netflix hosts thousands of Movies and TV Shows across multiple countries, genres, ratings, and release years.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The raw dataset contains complex and multi-valued attributes that require extensive cleaning and transformation before analysis.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Identifying meaningful patterns and trends manually is time-consuming and inefficient.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Business stakeholders need a centralized and interactive solution to explore content distribution and audience preferences.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The challenge is to transform raw Netflix data into actionable insights through data analytics and interactive visualization.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E50914"/>
                </a:solidFill>
              </a:defRPr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Clean, preprocess, and transform the raw Netflix dataset to ensure data quality and consistency.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Analyse content distribution across countries, genres, ratings, and content types.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 Identify key trends and patterns in Netflix's content library through exploratory data analysis.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Develop interactive Power BI dashboards for effective visualization and user-driven exploration.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Generate actionable business insights to support data-driven decision-making.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E50914"/>
                </a:solidFill>
              </a:defRPr>
            </a:pPr>
            <a:r>
              <a:rPr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The project uses the </a:t>
            </a:r>
            <a:r>
              <a:rPr lang="en-IN" sz="1800" b="1" dirty="0"/>
              <a:t>Netflix Titles Dataset</a:t>
            </a:r>
            <a:r>
              <a:rPr lang="en-IN" sz="1800" dirty="0"/>
              <a:t>, containing information on Movies and TV Shows available on Netflix.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The dataset consists of </a:t>
            </a:r>
            <a:r>
              <a:rPr lang="en-IN" sz="1800" b="1" dirty="0"/>
              <a:t>8,804 unique titles</a:t>
            </a:r>
            <a:r>
              <a:rPr lang="en-IN" sz="1800" dirty="0"/>
              <a:t> collected from Netflix's global content library.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It contains </a:t>
            </a:r>
            <a:r>
              <a:rPr lang="en-IN" sz="1800" b="1" dirty="0"/>
              <a:t>12+ attributes</a:t>
            </a:r>
            <a:r>
              <a:rPr lang="en-IN" sz="1800" dirty="0"/>
              <a:t>, including title, type, country, date added, release year, rating, duration, and genre.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The data is provided in </a:t>
            </a:r>
            <a:r>
              <a:rPr lang="en-IN" sz="1800" b="1" dirty="0"/>
              <a:t>CSV format(Netflix_Database)</a:t>
            </a:r>
            <a:r>
              <a:rPr lang="en-IN" sz="1800" dirty="0"/>
              <a:t> and serves as the primary source for analysis and visualization.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Data preprocessing techniques such as missing value handling, datatype conversion, and feature engineering were applied.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The cleaned dataset was used to perform country-wise, genre-wise, rating-wise, and yearly trend analysis.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E50914"/>
                </a:solidFill>
              </a:defRPr>
            </a:pPr>
            <a:r>
              <a:t>MECE Framework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69C1B5-BE91-4724-C2E6-B185D5191B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0978553"/>
              </p:ext>
            </p:extLst>
          </p:nvPr>
        </p:nvGraphicFramePr>
        <p:xfrm>
          <a:off x="457200" y="1417638"/>
          <a:ext cx="8229600" cy="3986466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307882001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945514910"/>
                    </a:ext>
                  </a:extLst>
                </a:gridCol>
              </a:tblGrid>
              <a:tr h="664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highlight>
                            <a:srgbClr val="C0C0C0"/>
                          </a:highlight>
                        </a:rPr>
                        <a:t>Dimension</a:t>
                      </a:r>
                      <a:endParaRPr lang="en-IN" sz="2400" b="1" i="1" dirty="0">
                        <a:highlight>
                          <a:srgbClr val="C0C0C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IN" sz="2400" b="1" kern="1200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</a:rPr>
                        <a:t>Key Fields</a:t>
                      </a:r>
                      <a:endParaRPr lang="en-IN" sz="2400" b="1" i="1" kern="1200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0004192"/>
                  </a:ext>
                </a:extLst>
              </a:tr>
              <a:tr h="664411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highlight>
                            <a:srgbClr val="808000"/>
                          </a:highlight>
                        </a:rPr>
                        <a:t>Content</a:t>
                      </a:r>
                      <a:endParaRPr lang="en-IN" sz="1800" b="1" kern="1200" dirty="0">
                        <a:solidFill>
                          <a:schemeClr val="tx1"/>
                        </a:solidFill>
                        <a:highlight>
                          <a:srgbClr val="8080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highlight>
                            <a:srgbClr val="808000"/>
                          </a:highlight>
                        </a:rPr>
                        <a:t>Title, Type, Description</a:t>
                      </a:r>
                      <a:endParaRPr lang="en-IN" sz="1800" b="1" kern="1200" dirty="0">
                        <a:solidFill>
                          <a:schemeClr val="tx1"/>
                        </a:solidFill>
                        <a:highlight>
                          <a:srgbClr val="8080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6841699"/>
                  </a:ext>
                </a:extLst>
              </a:tr>
              <a:tr h="664411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highlight>
                            <a:srgbClr val="808000"/>
                          </a:highlight>
                        </a:rPr>
                        <a:t>Production</a:t>
                      </a:r>
                      <a:endParaRPr lang="en-IN" sz="1800" b="1" kern="1200" dirty="0">
                        <a:solidFill>
                          <a:schemeClr val="tx1"/>
                        </a:solidFill>
                        <a:highlight>
                          <a:srgbClr val="8080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highlight>
                            <a:srgbClr val="808000"/>
                          </a:highlight>
                        </a:rPr>
                        <a:t>Country, Director, Cast</a:t>
                      </a:r>
                      <a:endParaRPr lang="en-IN" sz="1800" b="1" kern="1200" dirty="0">
                        <a:solidFill>
                          <a:schemeClr val="tx1"/>
                        </a:solidFill>
                        <a:highlight>
                          <a:srgbClr val="8080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059181"/>
                  </a:ext>
                </a:extLst>
              </a:tr>
              <a:tr h="664411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highlight>
                            <a:srgbClr val="808000"/>
                          </a:highlight>
                        </a:rPr>
                        <a:t>Time</a:t>
                      </a:r>
                      <a:endParaRPr lang="en-IN" sz="1800" b="1" kern="1200" dirty="0">
                        <a:solidFill>
                          <a:schemeClr val="tx1"/>
                        </a:solidFill>
                        <a:highlight>
                          <a:srgbClr val="8080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highlight>
                            <a:srgbClr val="808000"/>
                          </a:highlight>
                        </a:rPr>
                        <a:t>Date Added, Release Year, Year Added</a:t>
                      </a:r>
                      <a:endParaRPr lang="en-IN" sz="1800" b="1" kern="1200" dirty="0">
                        <a:solidFill>
                          <a:schemeClr val="tx1"/>
                        </a:solidFill>
                        <a:highlight>
                          <a:srgbClr val="8080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7366672"/>
                  </a:ext>
                </a:extLst>
              </a:tr>
              <a:tr h="664411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highlight>
                            <a:srgbClr val="808000"/>
                          </a:highlight>
                        </a:rPr>
                        <a:t>Classification</a:t>
                      </a:r>
                      <a:endParaRPr lang="en-IN" sz="1800" b="1" kern="1200" dirty="0">
                        <a:solidFill>
                          <a:schemeClr val="tx1"/>
                        </a:solidFill>
                        <a:highlight>
                          <a:srgbClr val="8080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highlight>
                            <a:srgbClr val="808000"/>
                          </a:highlight>
                        </a:rPr>
                        <a:t>Genre, Rating</a:t>
                      </a:r>
                      <a:endParaRPr lang="en-IN" sz="1800" b="1" kern="1200" dirty="0">
                        <a:solidFill>
                          <a:schemeClr val="tx1"/>
                        </a:solidFill>
                        <a:highlight>
                          <a:srgbClr val="8080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872788"/>
                  </a:ext>
                </a:extLst>
              </a:tr>
              <a:tr h="664411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highlight>
                            <a:srgbClr val="808000"/>
                          </a:highlight>
                        </a:rPr>
                        <a:t>Duration</a:t>
                      </a:r>
                      <a:endParaRPr lang="en-IN" sz="1800" b="1" kern="1200" dirty="0">
                        <a:solidFill>
                          <a:schemeClr val="tx1"/>
                        </a:solidFill>
                        <a:highlight>
                          <a:srgbClr val="8080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highlight>
                            <a:srgbClr val="808000"/>
                          </a:highlight>
                        </a:rPr>
                        <a:t>Duration, Duration Number</a:t>
                      </a:r>
                      <a:endParaRPr lang="en-IN" sz="1800" b="1" kern="1200" dirty="0">
                        <a:solidFill>
                          <a:schemeClr val="tx1"/>
                        </a:solidFill>
                        <a:highlight>
                          <a:srgbClr val="8080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77942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E50914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b="1" dirty="0"/>
              <a:t>Python and Pandas</a:t>
            </a:r>
            <a:r>
              <a:rPr lang="en-IN" sz="1800" dirty="0"/>
              <a:t> were used for data cleaning, preprocessing, transformation, and exploratory data analysis.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b="1" dirty="0"/>
              <a:t>Google Collab</a:t>
            </a:r>
            <a:r>
              <a:rPr lang="en-IN" sz="1800" dirty="0"/>
              <a:t> served as the development environment for executing Python scripts and managing datasets.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b="1" dirty="0"/>
              <a:t>Power BI</a:t>
            </a:r>
            <a:r>
              <a:rPr lang="en-IN" sz="1800" dirty="0"/>
              <a:t> was utilized to create interactive dashboards and visualize key business insights.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b="1" dirty="0"/>
              <a:t>Excel</a:t>
            </a:r>
            <a:r>
              <a:rPr lang="en-IN" sz="1800" dirty="0"/>
              <a:t> was used for preliminary data inspection, validation, and result verification. Together, these tools enabled the complete analytics workflow from raw data processing to interactive reporting.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E50914"/>
                </a:solidFill>
              </a:defRPr>
            </a:pPr>
            <a:r>
              <a:rPr dirty="0"/>
              <a:t>Project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b="1" i="1" dirty="0">
                <a:solidFill>
                  <a:schemeClr val="accent6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Data Collection</a:t>
            </a:r>
            <a:r>
              <a:rPr lang="en-IN" sz="1800" b="1" dirty="0">
                <a:solidFill>
                  <a:schemeClr val="accent6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:</a:t>
            </a:r>
            <a:r>
              <a:rPr lang="en-IN" sz="1800" dirty="0">
                <a:solidFill>
                  <a:schemeClr val="accent6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 </a:t>
            </a:r>
            <a:r>
              <a:rPr lang="en-IN" sz="1800" dirty="0"/>
              <a:t>Acquired the Netflix Titles dataset containing Movies and TV Shows metadata.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b="1" i="1" dirty="0">
                <a:solidFill>
                  <a:schemeClr val="accent6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Data Cleaning: </a:t>
            </a:r>
            <a:r>
              <a:rPr lang="en-IN" sz="1800" dirty="0"/>
              <a:t>Handled missing values, standardized column names, and corrected data types.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b="1" i="1" dirty="0">
                <a:solidFill>
                  <a:schemeClr val="accent6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Data Transformation: </a:t>
            </a:r>
            <a:r>
              <a:rPr lang="en-IN" sz="1800" dirty="0"/>
              <a:t>Applied feature engineering, extracted year information, and normalized multi-valued fields using explode operations.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b="1" i="1" dirty="0">
                <a:solidFill>
                  <a:schemeClr val="accent6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Exploratory Data Analysis (EDA): </a:t>
            </a:r>
            <a:r>
              <a:rPr lang="en-IN" sz="1800" dirty="0"/>
              <a:t>Analysed content distribution across countries, genres, ratings, and release years.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b="1" i="1" dirty="0">
                <a:solidFill>
                  <a:schemeClr val="accent6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KPI Development: </a:t>
            </a:r>
            <a:r>
              <a:rPr lang="en-IN" sz="1800" dirty="0"/>
              <a:t>Created key metrics such as Total Titles, Movies, TV Shows, Countries, and Genres.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b="1" i="1" dirty="0">
                <a:solidFill>
                  <a:schemeClr val="accent6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Dashboard Development: </a:t>
            </a:r>
            <a:r>
              <a:rPr lang="en-IN" sz="1800" dirty="0"/>
              <a:t>Built interactive Power BI dashboards with filters, slicers, and navigation features.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b="1" i="1" dirty="0">
                <a:solidFill>
                  <a:schemeClr val="accent6">
                    <a:lumMod val="40000"/>
                    <a:lumOff val="60000"/>
                  </a:schemeClr>
                </a:solidFill>
                <a:highlight>
                  <a:srgbClr val="000000"/>
                </a:highlight>
              </a:rPr>
              <a:t>Insight Generation: </a:t>
            </a:r>
            <a:r>
              <a:rPr lang="en-IN" sz="1800" dirty="0"/>
              <a:t>Derived actionable business insights and trends from the visualized data.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E50914"/>
                </a:solidFill>
              </a:defRPr>
            </a:pPr>
            <a:r>
              <a:rPr dirty="0"/>
              <a:t>Data Cleaning &amp;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Performed comprehensive data cleaning to ensure data accuracy and consistency</a:t>
            </a:r>
            <a:r>
              <a:rPr lang="en-IN" sz="1800" dirty="0"/>
              <a:t>.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F9F88A-540E-FB37-1BDB-0A202D3FC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650" y="2002537"/>
            <a:ext cx="6433814" cy="471830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49639-F7DE-C3B1-7A7D-C5C4C078B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E50914"/>
                </a:solidFill>
              </a:defRPr>
            </a:pPr>
            <a:r>
              <a:rPr lang="en-IN" sz="2800" b="1" dirty="0">
                <a:solidFill>
                  <a:srgbClr val="E50914"/>
                </a:solidFill>
              </a:rPr>
              <a:t>Data Cleaning &amp;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3C223-6A4C-3C83-7F8C-BC80096E6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1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Addressed missing values and corrected invalid or inconsistent records</a:t>
            </a:r>
          </a:p>
          <a:p>
            <a:endParaRPr lang="en-IN" sz="18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IN" sz="18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IN" sz="18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IN" sz="18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IN" sz="18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endParaRPr lang="en-IN" sz="18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IN" sz="1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Column names were standardized for consistency and improved readability</a:t>
            </a:r>
          </a:p>
          <a:p>
            <a:endParaRPr lang="en-IN" sz="1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IN" sz="18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IN" sz="18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IN" sz="18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IN" sz="18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IN" b="1" dirty="0"/>
              <a:t>   </a:t>
            </a:r>
            <a:endParaRPr lang="en-IN" sz="1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25458C-ED3C-5F66-D29A-28BFAE8ED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118" y="2011680"/>
            <a:ext cx="7775681" cy="12618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107EB8-165E-42D6-3910-2698BA784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119" y="3931920"/>
            <a:ext cx="7912841" cy="113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8525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387D3-AE51-4009-B2F6-813F3B1C0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E50914"/>
                </a:solidFill>
              </a:defRPr>
            </a:pPr>
            <a:r>
              <a:rPr lang="en-IN" sz="2800" b="1" dirty="0">
                <a:solidFill>
                  <a:srgbClr val="E50914"/>
                </a:solidFill>
              </a:rPr>
              <a:t>Data Cleaning &amp;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7D3D6-FFEA-A2EC-3EBD-BAD17E234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Standardized data types and transformed date-related fields. Normalized multi-valued country and genre attributes using explode(). </a:t>
            </a:r>
          </a:p>
          <a:p>
            <a:pPr marL="0" indent="0">
              <a:buNone/>
            </a:pPr>
            <a:endParaRPr lang="en-IN" sz="1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E6646A-1962-AB1D-C8C6-0B1E135F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821" y="2375521"/>
            <a:ext cx="5572987" cy="880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330780-0E4F-61DF-89AE-219C671DB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822" y="3388144"/>
            <a:ext cx="5572986" cy="11790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2A1AFD-C0F9-DD22-44B1-1E2900EAD9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822" y="4749786"/>
            <a:ext cx="5572987" cy="117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459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BFDFD-74A9-D04B-66E2-C02B7D8C2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E50914"/>
                </a:solidFill>
              </a:rPr>
              <a:t>Data Cleaning &amp; Transformation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20783-8D62-D7B6-FF43-B08232458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Prepared an analysis-ready dataset for Power BI dashboard development.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Saving Cleaned Dataset as Netflix_df:</a:t>
            </a:r>
          </a:p>
          <a:p>
            <a:endParaRPr lang="en-US" sz="1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sz="1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sz="1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Saving Country_df:</a:t>
            </a:r>
          </a:p>
          <a:p>
            <a:endParaRPr lang="en-US" sz="1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sz="1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Saving genre_df:</a:t>
            </a:r>
          </a:p>
          <a:p>
            <a:endParaRPr lang="en-US" sz="1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sz="1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sz="1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sz="1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sz="1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sz="1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sz="1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sz="1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sz="1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sz="1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sz="1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396917-FF2D-7F69-716B-6A92A293C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391" y="2278011"/>
            <a:ext cx="7461375" cy="8938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DE031A-5521-E4ED-3D8B-975D141A5E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390" y="3620053"/>
            <a:ext cx="7461375" cy="8938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A03566-6216-855A-9C7E-0653E7D1A3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389" y="4982122"/>
            <a:ext cx="7461375" cy="893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7684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E50914"/>
                </a:solidFill>
              </a:defRPr>
            </a:pPr>
            <a:r>
              <a:rPr dirty="0"/>
              <a:t>Country-wise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USA leads content production followed by India and UK.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Strong global and Asian content representation.</a:t>
            </a:r>
            <a:endParaRPr lang="en-IN" dirty="0"/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DA8167-235F-D339-FD5F-0959E4229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318" y="2332199"/>
            <a:ext cx="7005666" cy="397652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E50914"/>
                </a:solidFill>
              </a:defRPr>
            </a:pPr>
            <a:r>
              <a:t>Genre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International Movies, Dramas and Comedies dominate.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Movies contribute more titles than TV Shows.</a:t>
            </a:r>
            <a:endParaRPr lang="en-IN" dirty="0"/>
          </a:p>
          <a:p>
            <a:pPr>
              <a:defRPr sz="1800">
                <a:solidFill>
                  <a:srgbClr val="FFFFFF"/>
                </a:solidFill>
              </a:defRPr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E11C1F-F056-D5E9-4AEC-0E64A085F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606" y="2460440"/>
            <a:ext cx="6694770" cy="41190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E50914"/>
                </a:solidFill>
              </a:defRPr>
            </a:pPr>
            <a:r>
              <a:t>Audience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TV-MA, TV-14 and TV-PG are dominant ratings.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Netflix primarily targets adults and young adults.</a:t>
            </a:r>
            <a:endParaRPr lang="en-IN" dirty="0"/>
          </a:p>
          <a:p>
            <a:pPr>
              <a:defRPr sz="1800">
                <a:solidFill>
                  <a:srgbClr val="FFFFFF"/>
                </a:solidFill>
              </a:defRPr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031687-FBF1-173D-0E83-5F0C27FA6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532" y="2362144"/>
            <a:ext cx="6863012" cy="403848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E50914"/>
                </a:solidFill>
              </a:defRPr>
            </a:pPr>
            <a:r>
              <a:t>Content Growth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Major expansion after 2016.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Peak content additions observed around 2019.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Movies drive platform growth.</a:t>
            </a:r>
            <a:endParaRPr lang="en-IN" dirty="0"/>
          </a:p>
          <a:p>
            <a:pPr>
              <a:defRPr sz="1800">
                <a:solidFill>
                  <a:srgbClr val="FFFFFF"/>
                </a:solidFill>
              </a:defRPr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923C57-5446-190D-0898-7DC79BFFB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053" y="2638385"/>
            <a:ext cx="7909907" cy="14620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44AABF-A046-4B26-BB5E-DFC62552B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053" y="4282987"/>
            <a:ext cx="7909906" cy="163318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E50914"/>
                </a:solidFill>
              </a:defRPr>
            </a:pPr>
            <a:r>
              <a:t>KPI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The Netflix dataset contains </a:t>
            </a:r>
            <a:r>
              <a:rPr lang="en-IN" sz="1800" b="1" dirty="0"/>
              <a:t>8,804 unique titles</a:t>
            </a:r>
            <a:r>
              <a:rPr lang="en-IN" sz="1800" dirty="0"/>
              <a:t>, including both movies and TV shows.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b="1" dirty="0"/>
              <a:t>Movies dominate the library</a:t>
            </a:r>
            <a:r>
              <a:rPr lang="en-IN" sz="1800" dirty="0"/>
              <a:t> with 6,128 titles, while TV shows account for 2,676 titles.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Content is distributed across </a:t>
            </a:r>
            <a:r>
              <a:rPr lang="en-IN" sz="1800" b="1" dirty="0"/>
              <a:t>124 countries</a:t>
            </a:r>
            <a:r>
              <a:rPr lang="en-IN" sz="1800" dirty="0"/>
              <a:t>, highlighting Netflix's global presence.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The platform offers content spanning </a:t>
            </a:r>
            <a:r>
              <a:rPr lang="en-IN" sz="1800" b="1" dirty="0"/>
              <a:t>42 distinct genres</a:t>
            </a:r>
            <a:r>
              <a:rPr lang="en-IN" sz="1800" dirty="0"/>
              <a:t>, ensuring diverse viewer preferences.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These KPIs provide a high-level overview of the scale, diversity, and reach of Netflix's content catalogue.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A92AF8-0A59-B664-18EC-D3B8679AE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876" y="4413207"/>
            <a:ext cx="7865924" cy="112805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E50914"/>
                </a:solidFill>
              </a:defRPr>
            </a:pPr>
            <a:r>
              <a:rPr dirty="0"/>
              <a:t>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Developed an interactive Power BI dashboard to visualize Netflix content insights.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The dashboard consists of five dedicated pages covering different analytical perspectives.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Key analyses include content overview, country-wise distribution, genre trends, and audience ratings.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A separate content growth page highlights yearly additions and platform expansion trends.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Interactive navigation enables users to explore insights efficiently and make data-driven observations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2A220-43F1-9570-60C7-475BDEBD5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E50914"/>
                </a:solidFill>
              </a:defRPr>
            </a:pPr>
            <a:r>
              <a:rPr lang="en-IN" sz="2800" b="1" dirty="0">
                <a:solidFill>
                  <a:srgbClr val="E50914"/>
                </a:solidFill>
              </a:rPr>
              <a:t>Power BI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9B7FF-FC50-EBBB-B60A-C512F788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417638"/>
            <a:ext cx="8229600" cy="4525963"/>
          </a:xfrm>
        </p:spPr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Netflix Overview Page: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AB72D5-A4EB-69C9-BD9B-636069639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49" y="1756293"/>
            <a:ext cx="8409802" cy="475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613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9AB6-78A6-F5A8-3E69-AB805C130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E50914"/>
                </a:solidFill>
              </a:rPr>
              <a:t>Power BI Dashboard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32478-468F-850B-4EA9-DE6B1E1EE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Country Overview Page:</a:t>
            </a:r>
          </a:p>
          <a:p>
            <a:endParaRPr lang="en-IN" sz="1800" b="1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03354A-EED3-E08F-DFB3-9885FC55D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47647"/>
            <a:ext cx="8293608" cy="4696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7342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06471-39F9-56D1-96B2-E0A0721F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E50914"/>
                </a:solidFill>
              </a:rPr>
              <a:t>Power BI Dashboard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CDCA8-9A1E-8E75-79F0-72DCE0485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Genre Overview Page:</a:t>
            </a:r>
          </a:p>
          <a:p>
            <a:endParaRPr lang="en-IN" sz="1800" b="1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8DDA30-6308-929C-E067-075C7329B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66699"/>
            <a:ext cx="7946136" cy="449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690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459FC-95D6-A913-E9EC-6B375E1F9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E50914"/>
                </a:solidFill>
              </a:rPr>
              <a:t>Power BI Dashboard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5D00F-5C3B-1E91-13F2-BDF5A1D8C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Audience Rating Overview Page:</a:t>
            </a:r>
          </a:p>
          <a:p>
            <a:endParaRPr lang="en-IN" sz="1800" b="1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FEF834-05EF-3F74-250D-6787ACDEF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8811"/>
            <a:ext cx="8138160" cy="466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8582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B628A-31A0-500A-720D-9D3A6D67C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E50914"/>
                </a:solidFill>
              </a:rPr>
              <a:t>Power BI Dashboard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D95B8-6FA3-2D99-64E9-085E2CF4F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Yearly Content Trend Page:</a:t>
            </a:r>
          </a:p>
          <a:p>
            <a:endParaRPr lang="en-IN" sz="1800" b="1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A142B2-158C-725F-A9D8-4734BCD80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66698"/>
            <a:ext cx="8229600" cy="463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8979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E50914"/>
                </a:solidFill>
              </a:defRPr>
            </a:pPr>
            <a:r>
              <a:rPr dirty="0"/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Netflix maintains a highly diversified content library across multiple countries and genres.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The platform's catalogue is predominantly movie-focused, with movies significantly outnumbering TV shows.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International content has grown steadily, reflecting Netflix's expanding global strategy. Mature audience ratings account for a substantial share of the available content.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Content additions increased rapidly over recent years, demonstrating strong platform growth. 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1800" dirty="0"/>
              <a:t>These insights highlight Netflix's focus on global reach, content diversity, and audience engagement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48C20-8AB0-E226-0F8A-933EB01E2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E50914"/>
                </a:solidFill>
              </a:defRPr>
            </a:pPr>
            <a:r>
              <a:rPr lang="en-IN" sz="2800" b="1" dirty="0">
                <a:solidFill>
                  <a:srgbClr val="E50914"/>
                </a:solidFill>
              </a:rPr>
              <a:t>Key Business Insights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69612F9-8976-2327-A964-DC9829ED1E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9795940"/>
              </p:ext>
            </p:extLst>
          </p:nvPr>
        </p:nvGraphicFramePr>
        <p:xfrm>
          <a:off x="941833" y="1225296"/>
          <a:ext cx="7552944" cy="5250171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2517648">
                  <a:extLst>
                    <a:ext uri="{9D8B030D-6E8A-4147-A177-3AD203B41FA5}">
                      <a16:colId xmlns:a16="http://schemas.microsoft.com/office/drawing/2014/main" val="4226264930"/>
                    </a:ext>
                  </a:extLst>
                </a:gridCol>
                <a:gridCol w="2517648">
                  <a:extLst>
                    <a:ext uri="{9D8B030D-6E8A-4147-A177-3AD203B41FA5}">
                      <a16:colId xmlns:a16="http://schemas.microsoft.com/office/drawing/2014/main" val="968810673"/>
                    </a:ext>
                  </a:extLst>
                </a:gridCol>
                <a:gridCol w="2517648">
                  <a:extLst>
                    <a:ext uri="{9D8B030D-6E8A-4147-A177-3AD203B41FA5}">
                      <a16:colId xmlns:a16="http://schemas.microsoft.com/office/drawing/2014/main" val="1539876202"/>
                    </a:ext>
                  </a:extLst>
                </a:gridCol>
              </a:tblGrid>
              <a:tr h="257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highlight>
                            <a:srgbClr val="000000"/>
                          </a:highlight>
                        </a:rPr>
                        <a:t>Business Insight</a:t>
                      </a:r>
                    </a:p>
                  </a:txBody>
                  <a:tcPr marL="58025" marR="58025" marT="29013" marB="29013" anchor="ctr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</a:rPr>
                        <a:t>Recommendation</a:t>
                      </a:r>
                      <a:endParaRPr lang="en-IN" sz="1800" b="1" kern="1200" dirty="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8025" marR="58025" marT="29013" marB="29013" anchor="ctr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chemeClr val="lt1"/>
                          </a:solidFill>
                          <a:highlight>
                            <a:srgbClr val="000000"/>
                          </a:highlight>
                        </a:rPr>
                        <a:t>Future Scope</a:t>
                      </a:r>
                      <a:endParaRPr lang="en-IN" sz="1800" b="1" kern="1200" dirty="0">
                        <a:solidFill>
                          <a:schemeClr val="lt1"/>
                        </a:solidFill>
                        <a:highlight>
                          <a:srgbClr val="0000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8025" marR="58025" marT="29013" marB="29013" anchor="ctr"/>
                </a:tc>
                <a:extLst>
                  <a:ext uri="{0D108BD9-81ED-4DB2-BD59-A6C34878D82A}">
                    <a16:rowId xmlns:a16="http://schemas.microsoft.com/office/drawing/2014/main" val="2465282900"/>
                  </a:ext>
                </a:extLst>
              </a:tr>
              <a:tr h="1031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Global </a:t>
                      </a:r>
                      <a:r>
                        <a:rPr lang="en-IN" sz="1400" b="1" kern="1200" dirty="0">
                          <a:solidFill>
                            <a:schemeClr val="lt1"/>
                          </a:solidFill>
                        </a:rPr>
                        <a:t>Diversification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8025" marR="58025" marT="29013" marB="29013" anchor="ctr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IN" sz="1400" b="1" kern="1200" dirty="0">
                          <a:solidFill>
                            <a:schemeClr val="lt1"/>
                          </a:solidFill>
                        </a:rPr>
                        <a:t>Continue investing in localized and regional content to strengthen market penetration in emerging countries.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8025" marR="58025" marT="29013" marB="29013" anchor="ctr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IN" sz="1400" b="1" kern="1200" dirty="0">
                          <a:solidFill>
                            <a:schemeClr val="lt1"/>
                          </a:solidFill>
                        </a:rPr>
                        <a:t>Expand analysis by studying country-wise viewer engagement and subscription growth.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8025" marR="58025" marT="29013" marB="29013" anchor="ctr"/>
                </a:tc>
                <a:extLst>
                  <a:ext uri="{0D108BD9-81ED-4DB2-BD59-A6C34878D82A}">
                    <a16:rowId xmlns:a16="http://schemas.microsoft.com/office/drawing/2014/main" val="3753071607"/>
                  </a:ext>
                </a:extLst>
              </a:tr>
              <a:tr h="1031631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IN" sz="1400" b="1" kern="1200" dirty="0">
                          <a:solidFill>
                            <a:schemeClr val="lt1"/>
                          </a:solidFill>
                        </a:rPr>
                        <a:t>Movie-Heavy Catalogue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8025" marR="58025" marT="29013" marB="29013" anchor="ctr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IN" sz="1400" b="1" kern="1200" dirty="0">
                          <a:solidFill>
                            <a:schemeClr val="lt1"/>
                          </a:solidFill>
                        </a:rPr>
                        <a:t>Increase the production and acquisition of high-quality TV series to improve long-term audience retention.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8025" marR="58025" marT="29013" marB="29013" anchor="ctr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IN" sz="1400" b="1" kern="1200" dirty="0">
                          <a:solidFill>
                            <a:schemeClr val="lt1"/>
                          </a:solidFill>
                        </a:rPr>
                        <a:t>Analyses watch-time and popularity metrics to determine the optimal Movie-to-TV Show ratio.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8025" marR="58025" marT="29013" marB="29013" anchor="ctr"/>
                </a:tc>
                <a:extLst>
                  <a:ext uri="{0D108BD9-81ED-4DB2-BD59-A6C34878D82A}">
                    <a16:rowId xmlns:a16="http://schemas.microsoft.com/office/drawing/2014/main" val="4080019432"/>
                  </a:ext>
                </a:extLst>
              </a:tr>
              <a:tr h="1031631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IN" sz="1400" b="1" kern="1200" dirty="0">
                          <a:solidFill>
                            <a:schemeClr val="lt1"/>
                          </a:solidFill>
                        </a:rPr>
                        <a:t>Growing International Focus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8025" marR="58025" marT="29013" marB="29013" anchor="ctr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IN" sz="1400" b="1" kern="1200" dirty="0">
                          <a:solidFill>
                            <a:schemeClr val="lt1"/>
                          </a:solidFill>
                        </a:rPr>
                        <a:t>Prioritize multilingual content and strategic partnerships with international production houses.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8025" marR="58025" marT="29013" marB="29013" anchor="ctr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IN" sz="1400" b="1" kern="1200" dirty="0">
                          <a:solidFill>
                            <a:schemeClr val="lt1"/>
                          </a:solidFill>
                        </a:rPr>
                        <a:t>Explore region-specific content performance and cultural preferences using audience data.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8025" marR="58025" marT="29013" marB="29013" anchor="ctr"/>
                </a:tc>
                <a:extLst>
                  <a:ext uri="{0D108BD9-81ED-4DB2-BD59-A6C34878D82A}">
                    <a16:rowId xmlns:a16="http://schemas.microsoft.com/office/drawing/2014/main" val="1838160346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IN" sz="1400" b="1" kern="1200" dirty="0">
                          <a:solidFill>
                            <a:schemeClr val="lt1"/>
                          </a:solidFill>
                        </a:rPr>
                        <a:t>Strong Mature Audience Segment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8025" marR="58025" marT="29013" marB="29013" anchor="ctr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IN" sz="1400" b="1" kern="1200" dirty="0">
                          <a:solidFill>
                            <a:schemeClr val="lt1"/>
                          </a:solidFill>
                        </a:rPr>
                        <a:t>Diversify offerings by introducing more family-friendly, children’s, and teen-oriented content.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8025" marR="58025" marT="29013" marB="29013" anchor="ctr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IN" sz="1400" b="1" kern="1200" dirty="0">
                          <a:solidFill>
                            <a:schemeClr val="lt1"/>
                          </a:solidFill>
                        </a:rPr>
                        <a:t>Conduct audience segmentation analysis based on age groups and viewing patterns.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8025" marR="58025" marT="29013" marB="29013" anchor="ctr"/>
                </a:tc>
                <a:extLst>
                  <a:ext uri="{0D108BD9-81ED-4DB2-BD59-A6C34878D82A}">
                    <a16:rowId xmlns:a16="http://schemas.microsoft.com/office/drawing/2014/main" val="126140047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IN" sz="1400" b="1" kern="1200" dirty="0">
                          <a:solidFill>
                            <a:schemeClr val="lt1"/>
                          </a:solidFill>
                        </a:rPr>
                        <a:t>Rapid Content Growth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8025" marR="58025" marT="29013" marB="29013" anchor="ctr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IN" sz="1400" b="1" kern="1200" dirty="0">
                          <a:solidFill>
                            <a:schemeClr val="lt1"/>
                          </a:solidFill>
                        </a:rPr>
                        <a:t>Maintain a balanced content acquisition strategy while ensuring quality and relevance.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8025" marR="58025" marT="29013" marB="29013" anchor="ctr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IN" sz="1400" b="1" kern="1200" dirty="0">
                          <a:solidFill>
                            <a:schemeClr val="lt1"/>
                          </a:solidFill>
                        </a:rPr>
                        <a:t>Implement predictive analytics to forecast future content demand and optimize investments.</a:t>
                      </a:r>
                      <a:endParaRPr lang="en-IN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8025" marR="58025" marT="29013" marB="29013" anchor="ctr"/>
                </a:tc>
                <a:extLst>
                  <a:ext uri="{0D108BD9-81ED-4DB2-BD59-A6C34878D82A}">
                    <a16:rowId xmlns:a16="http://schemas.microsoft.com/office/drawing/2014/main" val="1253366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1633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</TotalTime>
  <Words>1216</Words>
  <Application>Microsoft Office PowerPoint</Application>
  <PresentationFormat>On-screen Show (4:3)</PresentationFormat>
  <Paragraphs>166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Netflix Global Content Analysis &amp; Visualization</vt:lpstr>
      <vt:lpstr>Agenda</vt:lpstr>
      <vt:lpstr>Project Overview</vt:lpstr>
      <vt:lpstr>Problem Statement</vt:lpstr>
      <vt:lpstr>Project Objectives</vt:lpstr>
      <vt:lpstr>Dataset Overview</vt:lpstr>
      <vt:lpstr>MECE Framework</vt:lpstr>
      <vt:lpstr>Technology Stack</vt:lpstr>
      <vt:lpstr>Project Methodology</vt:lpstr>
      <vt:lpstr>Data Cleaning &amp; Transformation</vt:lpstr>
      <vt:lpstr>Data Cleaning &amp; Transformation</vt:lpstr>
      <vt:lpstr>Data Cleaning &amp; Transformation</vt:lpstr>
      <vt:lpstr>Data Cleaning &amp; Transformation</vt:lpstr>
      <vt:lpstr>Country-wise Analysis</vt:lpstr>
      <vt:lpstr>Genre Analysis</vt:lpstr>
      <vt:lpstr>Audience Segmentation</vt:lpstr>
      <vt:lpstr>Content Growth Analysis</vt:lpstr>
      <vt:lpstr>KPI Summary</vt:lpstr>
      <vt:lpstr>Power BI Dashboard</vt:lpstr>
      <vt:lpstr>Power BI Dashboard</vt:lpstr>
      <vt:lpstr>Power BI Dashboard</vt:lpstr>
      <vt:lpstr>Power BI Dashboard</vt:lpstr>
      <vt:lpstr>Power BI Dashboard</vt:lpstr>
      <vt:lpstr>Power BI Dashboard</vt:lpstr>
      <vt:lpstr>Key Business Insights</vt:lpstr>
      <vt:lpstr>Key Business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Smruti ranjan Pradhan</cp:lastModifiedBy>
  <cp:revision>6</cp:revision>
  <dcterms:created xsi:type="dcterms:W3CDTF">2013-01-27T09:14:16Z</dcterms:created>
  <dcterms:modified xsi:type="dcterms:W3CDTF">2026-06-21T16:50:47Z</dcterms:modified>
  <cp:category/>
</cp:coreProperties>
</file>